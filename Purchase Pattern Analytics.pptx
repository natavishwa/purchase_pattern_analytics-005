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(K)</c:v>
                </c:pt>
              </c:strCache>
            </c:strRef>
          </c:tx>
          <c:spPr>
            <a:ln w="38100" cap="flat">
              <a:solidFill>
                <a:srgbClr val="00C4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4CC"/>
              </a:solidFill>
              <a:ln w="9525" cap="flat">
                <a:solidFill>
                  <a:srgbClr val="00C4C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 2010</c:v>
                </c:pt>
                <c:pt idx="1">
                  <c:v>Jan 2011</c:v>
                </c:pt>
                <c:pt idx="2">
                  <c:v>Feb 2011</c:v>
                </c:pt>
                <c:pt idx="3">
                  <c:v>Mar 2011</c:v>
                </c:pt>
                <c:pt idx="4">
                  <c:v>Apr 2011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</c:v>
                </c:pt>
                <c:pt idx="1">
                  <c:v>680</c:v>
                </c:pt>
                <c:pt idx="2">
                  <c:v>520</c:v>
                </c:pt>
                <c:pt idx="3">
                  <c:v>490</c:v>
                </c:pt>
                <c:pt idx="4">
                  <c:v>120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9C-4AF2-89F5-C70FD13FEB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84-4042-B1E0-B5B8FC8499C3}"/>
              </c:ext>
            </c:extLst>
          </c:dPt>
          <c:dPt>
            <c:idx val="1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84-4042-B1E0-B5B8FC8499C3}"/>
              </c:ext>
            </c:extLst>
          </c:dPt>
          <c:dPt>
            <c:idx val="2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84-4042-B1E0-B5B8FC8499C3}"/>
              </c:ext>
            </c:extLst>
          </c:dPt>
          <c:dPt>
            <c:idx val="3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84-4042-B1E0-B5B8FC8499C3}"/>
              </c:ext>
            </c:extLst>
          </c:dPt>
          <c:dPt>
            <c:idx val="4"/>
            <c:bubble3D val="0"/>
            <c:spPr>
              <a:solidFill>
                <a:srgbClr val="EF47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384-4042-B1E0-B5B8FC8499C3}"/>
              </c:ext>
            </c:extLst>
          </c:dPt>
          <c:dPt>
            <c:idx val="5"/>
            <c:bubble3D val="0"/>
            <c:spPr>
              <a:solidFill>
                <a:srgbClr val="118A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384-4042-B1E0-B5B8FC8499C3}"/>
              </c:ext>
            </c:extLst>
          </c:dPt>
          <c:dPt>
            <c:idx val="6"/>
            <c:bubble3D val="0"/>
            <c:spPr>
              <a:solidFill>
                <a:srgbClr val="073B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384-4042-B1E0-B5B8FC8499C3}"/>
              </c:ext>
            </c:extLst>
          </c:dPt>
          <c:dPt>
            <c:idx val="7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384-4042-B1E0-B5B8FC8499C3}"/>
              </c:ext>
            </c:extLst>
          </c:dPt>
          <c:dPt>
            <c:idx val="8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384-4042-B1E0-B5B8FC8499C3}"/>
              </c:ext>
            </c:extLst>
          </c:dPt>
          <c:dPt>
            <c:idx val="9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384-4042-B1E0-B5B8FC8499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84-4042-B1E0-B5B8FC8499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84-4042-B1E0-B5B8FC8499C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84-4042-B1E0-B5B8FC8499C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384-4042-B1E0-B5B8FC8499C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384-4042-B1E0-B5B8FC8499C3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384-4042-B1E0-B5B8FC8499C3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384-4042-B1E0-B5B8FC8499C3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384-4042-B1E0-B5B8FC8499C3}"/>
                </c:ext>
              </c:extLst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384-4042-B1E0-B5B8FC8499C3}"/>
                </c:ext>
              </c:extLst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384-4042-B1E0-B5B8FC8499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Sheet1!$A$2:$A$11</c:f>
              <c:strCache>
                <c:ptCount val="10"/>
                <c:pt idx="0">
                  <c:v>France</c:v>
                </c:pt>
                <c:pt idx="1">
                  <c:v>Germany</c:v>
                </c:pt>
                <c:pt idx="2">
                  <c:v>Greece</c:v>
                </c:pt>
                <c:pt idx="3">
                  <c:v>Hong Kong</c:v>
                </c:pt>
                <c:pt idx="4">
                  <c:v>Iceland</c:v>
                </c:pt>
                <c:pt idx="5">
                  <c:v>Israel</c:v>
                </c:pt>
                <c:pt idx="6">
                  <c:v>Italy</c:v>
                </c:pt>
                <c:pt idx="7">
                  <c:v>Japan</c:v>
                </c:pt>
                <c:pt idx="8">
                  <c:v>Norway</c:v>
                </c:pt>
                <c:pt idx="9">
                  <c:v>Sweden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384-4042-B1E0-B5B8FC849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 Sold</c:v>
                </c:pt>
              </c:strCache>
            </c:strRef>
          </c:tx>
          <c:spPr>
            <a:solidFill>
              <a:srgbClr val="00C4C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BF-42F7-A80F-B61348713315}"/>
              </c:ext>
            </c:extLst>
          </c:dPt>
          <c:dPt>
            <c:idx val="1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BF-42F7-A80F-B61348713315}"/>
              </c:ext>
            </c:extLst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BF-42F7-A80F-B61348713315}"/>
              </c:ext>
            </c:extLst>
          </c:dPt>
          <c:dPt>
            <c:idx val="3"/>
            <c:invertIfNegative val="0"/>
            <c:bubble3D val="0"/>
            <c:spPr>
              <a:solidFill>
                <a:srgbClr val="118A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BF-42F7-A80F-B61348713315}"/>
              </c:ext>
            </c:extLst>
          </c:dPt>
          <c:dPt>
            <c:idx val="4"/>
            <c:invertIfNegative val="0"/>
            <c:bubble3D val="0"/>
            <c:spPr>
              <a:solidFill>
                <a:srgbClr val="073B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EBF-42F7-A80F-B613487133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MEDIUM CERAMIC TOP...</c:v>
                </c:pt>
                <c:pt idx="1">
                  <c:v>WORLD WAR 2...</c:v>
                </c:pt>
                <c:pt idx="2">
                  <c:v>JUMBO BAG...</c:v>
                </c:pt>
                <c:pt idx="3">
                  <c:v>PACK OF 72...</c:v>
                </c:pt>
                <c:pt idx="4">
                  <c:v>WHITE HANG...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50000</c:v>
                </c:pt>
                <c:pt idx="1">
                  <c:v>23000</c:v>
                </c:pt>
                <c:pt idx="2">
                  <c:v>18000</c:v>
                </c:pt>
                <c:pt idx="3">
                  <c:v>14000</c:v>
                </c:pt>
                <c:pt idx="4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BF-42F7-A80F-B613487133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430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7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913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PURCHASE PATTERN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00C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Report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41148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 A Vishwanatha  |  Certified Data Analyst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Project: CDACL005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Pattern Analytics  | 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645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73152" cy="1920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buyers across all markets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73152" cy="192024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2801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C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6,136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in reporting period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73152" cy="1920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₹2,761K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across all regions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19202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34640"/>
            <a:ext cx="73152" cy="1920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337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₹450.01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93776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Average Items per Order: 230.76  |  High basket size indicates strong bulk purchasing behavior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TREND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777240"/>
            <a:ext cx="2926080" cy="96012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777240"/>
            <a:ext cx="73152" cy="9601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91072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91072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2010 recorded highest sales at ~₹950K, the strongest month in the period.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1828800"/>
            <a:ext cx="2926080" cy="96012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26480" y="1828800"/>
            <a:ext cx="73152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1892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Trend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91072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declined steadily from Jan to Apr 2011 — an 87% drop from peak.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880360"/>
            <a:ext cx="2926080" cy="96012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2880360"/>
            <a:ext cx="73152" cy="9601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29443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2011 Low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91072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2011 hit the lowest point (~₹120K), signaling possible seasonal downturn.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represents aggregated monthly sales across all regions and product categories.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DISTRIBUTION BY COUNTRY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31520"/>
          <a:ext cx="47548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731520"/>
            <a:ext cx="3657600" cy="411480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868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261872"/>
            <a:ext cx="329184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49240" y="1417320"/>
            <a:ext cx="201168" cy="20116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Distribution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235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countries hold exactly 10% share of total 26 customers, indicating broad global reach.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49240" y="222199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23560" y="2176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Dominance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3560" y="2450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countries are European (France, Germany, Greece, Iceland, Israel, Italy, Norway, Sweden).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49240" y="3026664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Presence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623560" y="325526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and Japan represent the company's foothold in the Asia-Pacific market.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49240" y="3831336"/>
            <a:ext cx="201168" cy="20116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Diversification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23560" y="4059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across 3 continents (Europe, Asia, Americas) reflects a robust international client base.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PRODUCTS BY QUANTITY SOLD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777240"/>
            <a:ext cx="3108960" cy="402336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Insights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298448"/>
            <a:ext cx="2743200" cy="27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4173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27648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Top Seller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27648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Ceramic Top Holder leads with ~50K units — 5x more than the 5th product.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897880" y="2221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27648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#2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27648" y="2496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War 2 product (~23K units) holds a strong second position.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97880" y="3026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4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27648" y="3026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Mid-Tier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27648" y="3300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Jumbo Bag and Pack of 72 show steady mid-range demand.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897880" y="38313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8A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27648" y="3831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27648" y="41056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restocking ceramic and war merchandise ahead of next season.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SALES COVERAGE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840480" cy="12344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73152" cy="123444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50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850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~58% of customer base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1612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France, Germany, Greece, Iceland, Israel, Italy, Lithuania, Netherlands, Norway, Poland, Portugal, Spain, Sweden, Switzerland, UK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3840480" cy="12344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ASIA-PACIFIC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267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~27% of customer base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57860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Kong, Japan, Singapore, United Arab Emirates, Saudi Arabia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3840480" cy="123444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11880"/>
            <a:ext cx="73152" cy="1234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685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685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customer 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9959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America, South America (indirect presence)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777240"/>
            <a:ext cx="4480560" cy="411480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896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Country Filter List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1325880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1581912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837944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80560" y="2093976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066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80560" y="2350008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2322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Iceland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80560" y="2606040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578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80560" y="2862072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80560" y="3118104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480560" y="3374136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Lebanon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480560" y="3630168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Lithuania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480560" y="3886200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858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29400" y="1325880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3992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29400" y="1581912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93992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29400" y="1837944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93992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629400" y="2093976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93992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629400" y="2350008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93992" y="23225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29400" y="2606040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93992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29400" y="2862072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93992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Sweden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629400" y="3118104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93992" y="30906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629400" y="3374136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93992" y="3346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Arab Emirates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29400" y="3630168"/>
            <a:ext cx="109728" cy="10972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93992" y="3602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STRATEGIC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011680" cy="82296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50592" y="749808"/>
            <a:ext cx="2011680" cy="82296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6,136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26864" y="749808"/>
            <a:ext cx="2011680" cy="82296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2,761K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26864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03136" y="749808"/>
            <a:ext cx="2011680" cy="822960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03136" y="7680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450.01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03136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(₹)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719072"/>
            <a:ext cx="4206240" cy="129844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719072"/>
            <a:ext cx="64008" cy="12984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17922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Q1 2011 Decline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219456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dropped significantly from Dec 2010 to Apr 2011. Conduct root-cause analysis on supply chain, marketing, or demand shifts.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82112"/>
            <a:ext cx="4206240" cy="129844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82112"/>
            <a:ext cx="64008" cy="129844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32552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SKUs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365760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Ceramic Top Holder is the bestseller by far. Ensure adequate inventory and consider bundling strategies to push related items.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719072"/>
            <a:ext cx="4206240" cy="129844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719072"/>
            <a:ext cx="64008" cy="12984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03520" y="17922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High-Value Market Focus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219456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Avg Order Value at ₹450, focus retention campaigns on high-LTV European customers who dominate the country list.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182112"/>
            <a:ext cx="4206240" cy="129844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182112"/>
            <a:ext cx="64008" cy="12984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32552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Into Underserved Regions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657600"/>
            <a:ext cx="3913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 shows limited Americas and Africa presence. Targeted market entry plans could drive incremental revenue.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1888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Pattern Analytics  | </a:t>
            </a:r>
            <a:r>
              <a:rPr lang="en-US" sz="8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Datamites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563</Words>
  <Application>Microsoft Office PowerPoint</Application>
  <PresentationFormat>On-screen Show (16:9)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Pattern Analytics Report</dc:title>
  <dc:subject>PptxGenJS Presentation</dc:subject>
  <dc:creator>M A Vishwanatha (Certified Data Analyst)</dc:creator>
  <cp:lastModifiedBy>natavishwa17@outlook.com</cp:lastModifiedBy>
  <cp:revision>3</cp:revision>
  <dcterms:created xsi:type="dcterms:W3CDTF">2026-04-07T13:21:13Z</dcterms:created>
  <dcterms:modified xsi:type="dcterms:W3CDTF">2026-04-08T09:24:34Z</dcterms:modified>
</cp:coreProperties>
</file>